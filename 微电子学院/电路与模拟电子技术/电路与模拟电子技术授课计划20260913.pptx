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767" r:id="rId6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2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defTabSz="990600"/>
            <a:fld id="{9A0DB2DC-4C9A-4742-B13C-FB6460FD3503}" type="slidenum">
              <a:rPr lang="en-US" altLang="zh-CN" sz="1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fld>
            <a:endParaRPr lang="en-US" altLang="zh-CN" sz="13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4339" name="Rectangle 3"/>
          <p:cNvSpPr>
            <a:spLocks noGrp="1"/>
          </p:cNvSpPr>
          <p:nvPr>
            <p:ph type="body"/>
          </p:nvPr>
        </p:nvSpPr>
        <p:spPr>
          <a:xfrm>
            <a:off x="709613" y="4860925"/>
            <a:ext cx="5680075" cy="4605338"/>
          </a:xfrm>
        </p:spPr>
        <p:txBody>
          <a:bodyPr wrap="square" lIns="99048" tIns="49524" rIns="99048" bIns="49524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31891" y="1989135"/>
            <a:ext cx="14071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讲授章节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205" y="2600960"/>
            <a:ext cx="47942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章（全部）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2.1~2.5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3.1~3.5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5.1~5.9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7.1~7.6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章和模电第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章一块）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20" y="357166"/>
            <a:ext cx="8572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电路基础部分：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《电路分析基础》（第</a:t>
            </a: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版），俎云霄</a:t>
            </a: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等，电子工业出版社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68513" y="1340465"/>
            <a:ext cx="4457065" cy="38461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作业题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第1章：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1-5   1-7   1-24   1-26   1-30   1-32   1-45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第2章：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2-3   2-11   2-12   2-20   2-21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第3章：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3-4   3-10   3-16   3-17   3-19   3-22   3-29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第5章：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5-7   5-11   5-15   5-24   5-27   5-29   5-31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第7章：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7-6   7-12   7-17   7-23   7-24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31891" y="1989135"/>
            <a:ext cx="14071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讲授章节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205" y="2600960"/>
            <a:ext cx="684149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1.1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1.3~1.5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章（全部）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章（全部）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4.1~4.5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4.7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5.1~5.3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，不含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5.2.5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章（引言、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6.1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，仅概念性）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（并入电路分析基础第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7.2.1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，仅概念性）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8.1~8.4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章（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10.1~10.3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10.8.1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20" y="357166"/>
            <a:ext cx="85725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模拟电子技术部分：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《电子技术基础（模拟部分）》（第</a:t>
            </a: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7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版），康华光</a:t>
            </a: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等，高等教育出版社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67360" y="980440"/>
            <a:ext cx="834580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作业题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第2章：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2.3.2   2.3.7   2.4.5   2.4.9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第3章：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3.2.2   3.4.2   3.4.3(1)   3.4.12(a)(c)   3.4.13(a)(b)   3.4.14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第4章：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4.1.1   4.1.4   4.2.2(1)(3)(5)(7)   4.2.3   4.4.1   4.4.3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宋体" panose="02010600030101010101" pitchFamily="2" charset="-122"/>
              </a:rPr>
              <a:t>(1)(2)(3)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4.5.1(源电压增益不要求)   4.5.5 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第5章：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5.1.1   5.1.3   5.2.2   5.2.4  5.2.7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宋体" panose="02010600030101010101" pitchFamily="2" charset="-122"/>
              </a:rPr>
              <a:t>(1)(2)(3)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5.2.8 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第8章：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8.1.1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宋体" panose="02010600030101010101" pitchFamily="2" charset="-122"/>
              </a:rPr>
              <a:t>8.1.2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8.1.7   8.2.1   8.4.1(闭环电压增益)   8.4.3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第10章：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10.2.3   10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宋体" panose="02010600030101010101" pitchFamily="2" charset="-122"/>
              </a:rPr>
              <a:t>.3.4   10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.8.2   10.8.4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876300" y="116523"/>
            <a:ext cx="7391400" cy="762000"/>
          </a:xfrm>
        </p:spPr>
        <p:txBody>
          <a:bodyPr vert="horz" wrap="square" lIns="90488" tIns="44450" rIns="90488" bIns="44450" anchor="b" anchorCtr="0"/>
          <a:lstStyle/>
          <a:p>
            <a:pPr>
              <a:lnSpc>
                <a:spcPct val="100000"/>
              </a:lnSpc>
              <a:spcBef>
                <a:spcPct val="5000"/>
              </a:spcBef>
              <a:buClr>
                <a:schemeClr val="bg2"/>
              </a:buClr>
            </a:pPr>
            <a:r>
              <a:rPr lang="zh-CN" altLang="en-US" sz="3200" b="1" dirty="0">
                <a:ea typeface="宋体" panose="02010600030101010101" pitchFamily="2" charset="-122"/>
              </a:rPr>
              <a:t>电路与模拟电子技术</a:t>
            </a:r>
            <a:r>
              <a:rPr lang="en-US" altLang="zh-CN" sz="3200" b="1" dirty="0"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ea typeface="宋体" panose="02010600030101010101" pitchFamily="2" charset="-122"/>
              </a:rPr>
              <a:t>课程评价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 hasCustomPrompt="1"/>
          </p:nvPr>
        </p:nvSpPr>
        <p:spPr>
          <a:xfrm>
            <a:off x="556260" y="1340485"/>
            <a:ext cx="8032115" cy="4534535"/>
          </a:xfrm>
        </p:spPr>
        <p:txBody>
          <a:bodyPr vert="horz" wrap="square" lIns="90488" tIns="44450" rIns="90488" bIns="44450" anchor="t" anchorCtr="0"/>
          <a:lstStyle/>
          <a:p>
            <a:pPr marL="0" indent="0" eaLnBrk="1" hangingPunct="1">
              <a:lnSpc>
                <a:spcPct val="145000"/>
              </a:lnSpc>
              <a:buNone/>
            </a:pPr>
            <a:r>
              <a:rPr lang="zh-CN" altLang="zh-CN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、课程评价组成</a:t>
            </a:r>
          </a:p>
          <a:p>
            <a:pPr marL="0" indent="0" eaLnBrk="1" hangingPunct="1">
              <a:lnSpc>
                <a:spcPct val="145000"/>
              </a:lnSpc>
              <a:buNone/>
            </a:pPr>
            <a:r>
              <a:rPr lang="zh-CN" altLang="en-US" sz="20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考勤与课堂表现：</a:t>
            </a:r>
            <a:r>
              <a:rPr lang="en-US" altLang="zh-CN" sz="20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15%</a:t>
            </a:r>
            <a:endParaRPr lang="zh-CN" altLang="en-US" sz="2000" i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45000"/>
              </a:lnSpc>
              <a:buNone/>
            </a:pPr>
            <a:r>
              <a:rPr lang="zh-CN" altLang="en-US" sz="20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课后作业：</a:t>
            </a:r>
            <a:r>
              <a:rPr lang="en-US" altLang="zh-CN" sz="20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15%</a:t>
            </a:r>
          </a:p>
          <a:p>
            <a:pPr marL="0" indent="0" eaLnBrk="1" hangingPunct="1">
              <a:lnSpc>
                <a:spcPct val="145000"/>
              </a:lnSpc>
              <a:buNone/>
            </a:pPr>
            <a:r>
              <a:rPr lang="zh-CN" altLang="en-US" sz="20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期末闭卷考试：</a:t>
            </a:r>
            <a:r>
              <a:rPr lang="en-US" altLang="zh-CN" sz="20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70%</a:t>
            </a:r>
          </a:p>
          <a:p>
            <a:pPr marL="0" indent="0" eaLnBrk="1" hangingPunct="1">
              <a:lnSpc>
                <a:spcPct val="145000"/>
              </a:lnSpc>
              <a:buNone/>
            </a:pPr>
            <a:r>
              <a:rPr lang="en-US" altLang="zh-CN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、作业题</a:t>
            </a:r>
          </a:p>
          <a:p>
            <a:pPr marL="0" indent="0" eaLnBrk="1" hangingPunct="1">
              <a:lnSpc>
                <a:spcPct val="145000"/>
              </a:lnSpc>
              <a:buNone/>
            </a:pPr>
            <a:r>
              <a:rPr lang="zh-CN" altLang="en-US" sz="20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根据授课进度自行完成相应作业题，每章结束上交一次作业，另行下发批改完的上章作业，故请准备</a:t>
            </a:r>
            <a:r>
              <a:rPr lang="en-US" altLang="zh-CN" sz="20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i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个作业本。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4b33314-7233-4c28-b76a-52253ab28bd3"/>
  <p:tag name="COMMONDATA" val="eyJoZGlkIjoiZThmNjAzMWJlZjFkMmQwODUwMTJkYzE2ODFiYmFmY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730</Words>
  <Application>Microsoft Office PowerPoint</Application>
  <PresentationFormat>全屏显示(4:3)</PresentationFormat>
  <Paragraphs>57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宋体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电路与模拟电子技术 课程评价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3308731572@qq.com</cp:lastModifiedBy>
  <cp:revision>28</cp:revision>
  <dcterms:created xsi:type="dcterms:W3CDTF">2015-09-29T13:20:00Z</dcterms:created>
  <dcterms:modified xsi:type="dcterms:W3CDTF">2026-10-14T17:20:29Z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0163FEF688BF47969D24BDBD9DD564B0</vt:lpwstr>
  </property>
  <property fmtid="{D5CDD505-2E9C-101B-9397-08002B2CF9AE}" pid="3" name="KSOProductBuildVer">
    <vt:lpwstr>2052-12.1.0.28043</vt:lpwstr>
  </property>
</Properties>
</file>